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1F5F9"/>
                </a:solidFill>
              </a:defRPr>
            </a:pPr>
            <a:r>
              <a:t>Intensity Resolution in Digital Image Processing</a:t>
            </a:r>
          </a:p>
          <a:p>
            <a:pPr>
              <a:spcBef>
                <a:spcPts val="1200"/>
              </a:spcBef>
              <a:defRPr sz="2000">
                <a:solidFill>
                  <a:srgbClr val="14B8A6"/>
                </a:solidFill>
              </a:defRPr>
            </a:pPr>
            <a:r>
              <a:t>Problem-Based Scenarios, Quantization Dynamics, &amp; Technical Analysis</a:t>
            </a:r>
          </a:p>
          <a:p>
            <a:pPr>
              <a:spcBef>
                <a:spcPts val="2400"/>
              </a:spcBef>
              <a:defRPr sz="1400">
                <a:solidFill>
                  <a:srgbClr val="94A3B8"/>
                </a:solidFill>
              </a:defRPr>
            </a:pPr>
            <a:r>
              <a:t>Comprehensive evaluation of radiometric bit depth, false contouring, and diagnostic precision thresholds.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1. Fundamentals of Intensity Resolution</a:t>
            </a:r>
          </a:p>
          <a:p>
            <a:pPr>
              <a:spcBef>
                <a:spcPts val="400"/>
              </a:spcBef>
              <a:defRPr sz="1400">
                <a:solidFill>
                  <a:srgbClr val="14B8A6"/>
                </a:solidFill>
              </a:defRPr>
            </a:pPr>
            <a:r>
              <a:t>Radiometric Sampling &amp; Quantization Mathematics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14B8A6"/>
                </a:solidFill>
              </a:defRPr>
            </a:pPr>
            <a:r>
              <a:t>Core Concept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Intensity (Radiometric) Resolution defines the smallest discernible change in shade or gray level in a digital image.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It depends directly on the bit depth (k) assigned to quantize continuous sensor amplitude values.</a:t>
            </a:r>
          </a:p>
          <a:p>
            <a:pPr>
              <a:spcBef>
                <a:spcPts val="1200"/>
              </a:spcBef>
              <a:defRPr sz="1400">
                <a:solidFill>
                  <a:srgbClr val="F1F5F9"/>
                </a:solidFill>
              </a:defRPr>
            </a:pPr>
            <a:r>
              <a:t>• Higher bit depth increases dynamic range accuracy, eliminating signal clipping and subtle detail loss.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2422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Mathematical Formulations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</a:defRPr>
            </a:pPr>
            <a:r>
              <a:t>Discrete Gray Levels (L):</a:t>
            </a:r>
          </a:p>
          <a:p>
            <a:pPr>
              <a:spcBef>
                <a:spcPts val="200"/>
              </a:spcBef>
              <a:defRPr sz="1500" b="1">
                <a:solidFill>
                  <a:srgbClr val="14B8A6"/>
                </a:solidFill>
              </a:defRPr>
            </a:pPr>
            <a:r>
              <a:t>L = 2^k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</a:defRPr>
            </a:pPr>
            <a:r>
              <a:t>Quantization Step Size (Δ):</a:t>
            </a:r>
          </a:p>
          <a:p>
            <a:pPr>
              <a:spcBef>
                <a:spcPts val="200"/>
              </a:spcBef>
              <a:defRPr sz="1500" b="1">
                <a:solidFill>
                  <a:srgbClr val="14B8A6"/>
                </a:solidFill>
              </a:defRPr>
            </a:pPr>
            <a:r>
              <a:t>Δ = (I_max - I_min) / 2^k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</a:defRPr>
            </a:pPr>
            <a:r>
              <a:t>Signal-to-Quantization-Noise (SQNR):</a:t>
            </a:r>
          </a:p>
          <a:p>
            <a:pPr>
              <a:spcBef>
                <a:spcPts val="200"/>
              </a:spcBef>
              <a:defRPr sz="1500" b="1">
                <a:solidFill>
                  <a:srgbClr val="14B8A6"/>
                </a:solidFill>
              </a:defRPr>
            </a:pPr>
            <a:r>
              <a:t>SQNR ≈ 6.02k + 1.76 dB</a:t>
            </a:r>
          </a:p>
          <a:p>
            <a:pPr>
              <a:spcBef>
                <a:spcPts val="1000"/>
              </a:spcBef>
              <a:defRPr sz="1400" b="1">
                <a:solidFill>
                  <a:srgbClr val="F1F5F9"/>
                </a:solidFill>
              </a:defRPr>
            </a:pPr>
            <a:r>
              <a:t>Key Rule of Thumb:</a:t>
            </a:r>
          </a:p>
          <a:p>
            <a:pPr>
              <a:spcBef>
                <a:spcPts val="200"/>
              </a:spcBef>
              <a:defRPr sz="1500" b="1">
                <a:solidFill>
                  <a:srgbClr val="14B8A6"/>
                </a:solidFill>
              </a:defRPr>
            </a:pPr>
            <a:r>
              <a:t>Each added bit adds +6.02 dB SQNR and doubles gray resolution.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2. Problem Scenario 1: Medical CT Diagnostics</a:t>
            </a:r>
          </a:p>
          <a:p>
            <a:pPr>
              <a:spcBef>
                <a:spcPts val="400"/>
              </a:spcBef>
              <a:defRPr sz="1400">
                <a:solidFill>
                  <a:srgbClr val="14B8A6"/>
                </a:solidFill>
              </a:defRPr>
            </a:pPr>
            <a:r>
              <a:t>Brain Ischemic Stroke Differentiation (-1000 HU to +2000 HU Range)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728655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600" b="1">
                <a:solidFill>
                  <a:srgbClr val="14B8A6"/>
                </a:solidFill>
              </a:defRPr>
            </a:pPr>
            <a:r>
              <a:t>Clinical Challenge:</a:t>
            </a:r>
          </a:p>
          <a:p>
            <a:pPr>
              <a:spcBef>
                <a:spcPts val="200"/>
              </a:spcBef>
              <a:defRPr sz="1300">
                <a:solidFill>
                  <a:srgbClr val="F1F5F9"/>
                </a:solidFill>
              </a:defRPr>
            </a:pPr>
            <a:r>
              <a:t>A radiologist must detect an early ischemic lesion (+28 HU) surrounded by healthy brain tissue (+35 HU). Delta intensity = 7 HU across a total dynamic CT range of 3000 HU.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743200"/>
            <a:ext cx="5120640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F43F5E"/>
                </a:solidFill>
              </a:defRPr>
            </a:pPr>
            <a:r>
              <a:t>8-Bit System (256 Levels)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Step Size (Δ): 3000 / 256 = 11.72 HU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Quantization Error: ±5.86 HU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Analysis: The 7 HU tissue difference is SMALLER than a single step size (11.72 HU).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Clinical Result: DIAGNOSTIC FAILURE. Ischemic stroke is quantized into the exact same bin as healthy tissue.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743200"/>
            <a:ext cx="5242255" cy="34747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/>
          <a:lstStyle/>
          <a:p>
            <a:pPr algn="ctr">
              <a:defRPr sz="1800" b="1">
                <a:solidFill>
                  <a:srgbClr val="22C55E"/>
                </a:solidFill>
              </a:defRPr>
            </a:pPr>
            <a:r>
              <a:t>12-Bit System (4096 Levels)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Step Size (Δ): 3000 / 4096 = 0.73 HU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Quantization Error: ±0.37 HU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Analysis: The 7 HU difference spans ~10 discrete gray levels.</a:t>
            </a:r>
          </a:p>
          <a:p>
            <a:pPr>
              <a:spcBef>
                <a:spcPts val="800"/>
              </a:spcBef>
              <a:defRPr sz="1300">
                <a:solidFill>
                  <a:srgbClr val="F1F5F9"/>
                </a:solidFill>
              </a:defRPr>
            </a:pPr>
            <a:r>
              <a:t>• Clinical Result: DIAGNOSTIC SUCCESS. High clarity; stroke boundaries and low-contrast details are fully resolved.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3. Problem Scenario 2: False Contouring Artifacts</a:t>
            </a:r>
          </a:p>
          <a:p>
            <a:pPr>
              <a:spcBef>
                <a:spcPts val="400"/>
              </a:spcBef>
              <a:defRPr sz="1400">
                <a:solidFill>
                  <a:srgbClr val="14B8A6"/>
                </a:solidFill>
              </a:defRPr>
            </a:pPr>
            <a:r>
              <a:t>Quantization Thresholds &amp; Human Visual System (HVS) Perception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2000" b="1">
                <a:solidFill>
                  <a:srgbClr val="38BDF8"/>
                </a:solidFill>
              </a:defRPr>
            </a:pPr>
            <a:r>
              <a:t>Mechanism of False Contouring (Posterization)</a:t>
            </a:r>
          </a:p>
          <a:p>
            <a:pPr>
              <a:spcBef>
                <a:spcPts val="1200"/>
              </a:spcBef>
              <a:defRPr b="1" sz="1400">
                <a:solidFill>
                  <a:srgbClr val="14B8A6"/>
                </a:solidFill>
              </a:defRPr>
            </a:pPr>
            <a:r>
              <a:t>Smooth Gradient Compression: </a:t>
            </a:r>
            <a:r>
              <a:rPr b="0">
                <a:solidFill>
                  <a:srgbClr val="F1F5F9"/>
                </a:solidFill>
              </a:rPr>
              <a:t>When a continuous smooth intensity gradient (e.g., sky or tissue scan) is requantized from 8-bit (256 levels) down to 3-bit (8 levels), step size jumps from Δ = 1 to Δ = 32 units.</a:t>
            </a:r>
          </a:p>
          <a:p>
            <a:pPr>
              <a:spcBef>
                <a:spcPts val="1200"/>
              </a:spcBef>
              <a:defRPr b="1" sz="1400">
                <a:solidFill>
                  <a:srgbClr val="14B8A6"/>
                </a:solidFill>
              </a:defRPr>
            </a:pPr>
            <a:r>
              <a:t>Perceptual Discontinuity: </a:t>
            </a:r>
            <a:r>
              <a:rPr b="0">
                <a:solidFill>
                  <a:srgbClr val="F1F5F9"/>
                </a:solidFill>
              </a:rPr>
              <a:t>Instead of a continuous ramp, wide adjacent pixel regions are mapped to identical gray values, creating steep jump lines (ridge lines).</a:t>
            </a:r>
          </a:p>
          <a:p>
            <a:pPr>
              <a:spcBef>
                <a:spcPts val="1200"/>
              </a:spcBef>
              <a:defRPr b="1" sz="1400">
                <a:solidFill>
                  <a:srgbClr val="14B8A6"/>
                </a:solidFill>
              </a:defRPr>
            </a:pPr>
            <a:r>
              <a:t>Weber's Law Violation: </a:t>
            </a:r>
            <a:r>
              <a:rPr b="0">
                <a:solidFill>
                  <a:srgbClr val="F1F5F9"/>
                </a:solidFill>
              </a:rPr>
              <a:t>The Human Visual System (HVS) detects intensity step jumps exceeding ~1% to 2% of background brightness. At 3-bit depth, step jumps equal 12.5%, drastically triggering false contour boundaries.</a:t>
            </a:r>
          </a:p>
          <a:p>
            <a:pPr>
              <a:spcBef>
                <a:spcPts val="1200"/>
              </a:spcBef>
              <a:defRPr b="1" sz="1400">
                <a:solidFill>
                  <a:srgbClr val="14B8A6"/>
                </a:solidFill>
              </a:defRPr>
            </a:pPr>
            <a:r>
              <a:t>Dithering Remedy: </a:t>
            </a:r>
            <a:r>
              <a:rPr b="0">
                <a:solidFill>
                  <a:srgbClr val="F1F5F9"/>
                </a:solidFill>
              </a:rPr>
              <a:t>Adding controlled pseudorandom noise prior to low-bit quantization breaks up distinct banding at the cost of slight grain.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1F5F9"/>
                </a:solidFill>
              </a:defRPr>
            </a:pPr>
            <a:r>
              <a:t>4. Bit Depth Performance Matrix</a:t>
            </a:r>
          </a:p>
          <a:p>
            <a:pPr>
              <a:spcBef>
                <a:spcPts val="400"/>
              </a:spcBef>
              <a:defRPr sz="1400">
                <a:solidFill>
                  <a:srgbClr val="14B8A6"/>
                </a:solidFill>
              </a:defRPr>
            </a:pPr>
            <a:r>
              <a:t>Comprehensive Breakdown Across Radiometric Levels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2560320"/>
                <a:gridCol w="3230575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4B8A6"/>
                          </a:solidFill>
                        </a:defRPr>
                      </a:pPr>
                      <a:r>
                        <a:t>Bit Depth (k)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4B8A6"/>
                          </a:solidFill>
                        </a:defRPr>
                      </a:pPr>
                      <a:r>
                        <a:t>Gray Levels (2^k)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4B8A6"/>
                          </a:solidFill>
                        </a:defRPr>
                      </a:pPr>
                      <a:r>
                        <a:t>SQNR (dB)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4B8A6"/>
                          </a:solidFill>
                        </a:defRPr>
                      </a:pPr>
                      <a:r>
                        <a:t>Perceptual Quality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14B8A6"/>
                          </a:solidFill>
                        </a:defRPr>
                      </a:pPr>
                      <a:r>
                        <a:t>Typical Applications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1-bit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7.78 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Binary / High Contrast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Barcodes, document scanners, 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4-bit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25.84 dB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Severe False Contouring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Legacy embedded displays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8-bit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256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49.92 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Standard Quality (HVS Limit)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Consumer Web, RGB images, MP4 video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12-bit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4096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74.00 dB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High Precision / Scientific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Medical CT, MRI, Digital X-Ray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16-bit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65536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98.08 dB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Ultra-High Dynamic Range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1F5F9"/>
                          </a:solidFill>
                        </a:defRPr>
                      </a:pPr>
                      <a:r>
                        <a:t>Satellite Remote Sensing, Astronomical RAW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