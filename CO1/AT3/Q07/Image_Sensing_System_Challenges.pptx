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914400" y="2011680"/>
            <a:ext cx="10362895" cy="3200400"/>
          </a:xfrm>
          <a:prstGeom prst="rect">
            <a:avLst/>
          </a:prstGeom>
          <a:noFill/>
        </p:spPr>
        <p:txBody>
          <a:bodyPr wrap="square">
            <a:spAutoFit/>
          </a:bodyPr>
          <a:lstStyle/>
          <a:p>
            <a:pPr>
              <a:defRPr sz="3600" b="1">
                <a:solidFill>
                  <a:srgbClr val="58A6FF"/>
                </a:solidFill>
              </a:defRPr>
            </a:pPr>
            <a:r>
              <a:t>Analysis of Image Sensing System Challenges</a:t>
            </a:r>
          </a:p>
          <a:p>
            <a:pPr>
              <a:spcBef>
                <a:spcPts val="1500"/>
              </a:spcBef>
              <a:defRPr sz="1800">
                <a:solidFill>
                  <a:srgbClr val="F0F6FC"/>
                </a:solidFill>
              </a:defRPr>
            </a:pPr>
            <a:r>
              <a:t>Acquisition Phenomena, Mathematical Noise Models &amp; Analytical Restoration Frameworks</a:t>
            </a:r>
          </a:p>
          <a:p>
            <a:pPr>
              <a:spcBef>
                <a:spcPts val="2500"/>
              </a:spcBef>
              <a:defRPr sz="1400">
                <a:solidFill>
                  <a:srgbClr val="8B949E"/>
                </a:solidFill>
              </a:defRPr>
            </a:pPr>
            <a:r>
              <a:t>A Comprehensive Technical Analysis of Optical Acquisition Bottlenecks, Noise Physics, and Hardware-Software Mitigation Strategies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a:spAutoFit/>
          </a:bodyPr>
          <a:lstStyle/>
          <a:p>
            <a:pPr>
              <a:defRPr sz="1000" b="1">
                <a:solidFill>
                  <a:srgbClr val="58A6FF"/>
                </a:solidFill>
              </a:defRPr>
            </a:pPr>
            <a:r>
              <a:t>IMAGE SENSING SYSTEMS</a:t>
            </a:r>
          </a:p>
        </p:txBody>
      </p:sp>
      <p:sp>
        <p:nvSpPr>
          <p:cNvPr id="3" name="TextBox 2"/>
          <p:cNvSpPr txBox="1"/>
          <p:nvPr/>
        </p:nvSpPr>
        <p:spPr>
          <a:xfrm>
            <a:off x="731520" y="731520"/>
            <a:ext cx="10698480" cy="731520"/>
          </a:xfrm>
          <a:prstGeom prst="rect">
            <a:avLst/>
          </a:prstGeom>
          <a:noFill/>
        </p:spPr>
        <p:txBody>
          <a:bodyPr wrap="square">
            <a:spAutoFit/>
          </a:bodyPr>
          <a:lstStyle/>
          <a:p>
            <a:pPr>
              <a:defRPr sz="2200" b="1">
                <a:solidFill>
                  <a:srgbClr val="F0F6FC"/>
                </a:solidFill>
              </a:defRPr>
            </a:pPr>
            <a:r>
              <a:t>1. The Image Acquisition Pipeline &amp; Degradation Architecture</a:t>
            </a:r>
          </a:p>
        </p:txBody>
      </p:sp>
      <p:sp>
        <p:nvSpPr>
          <p:cNvPr id="4" name="Rectangle 3"/>
          <p:cNvSpPr/>
          <p:nvPr/>
        </p:nvSpPr>
        <p:spPr>
          <a:xfrm>
            <a:off x="731520" y="1645920"/>
            <a:ext cx="2468880" cy="1828800"/>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58A6FF"/>
                </a:solidFill>
              </a:defRPr>
            </a:pPr>
            <a:r>
              <a:t>1. Photonic Scene</a:t>
            </a:r>
          </a:p>
          <a:p>
            <a:pPr>
              <a:spcBef>
                <a:spcPts val="1000"/>
              </a:spcBef>
              <a:defRPr sz="1100">
                <a:solidFill>
                  <a:srgbClr val="C9D1D9"/>
                </a:solidFill>
              </a:defRPr>
            </a:pPr>
            <a:r>
              <a:t>Radiance I(x,y)</a:t>
            </a:r>
            <a:br/>
            <a:r>
              <a:t>Photon arrive statistics</a:t>
            </a:r>
          </a:p>
        </p:txBody>
      </p:sp>
      <p:sp>
        <p:nvSpPr>
          <p:cNvPr id="5" name="Rectangle 4"/>
          <p:cNvSpPr/>
          <p:nvPr/>
        </p:nvSpPr>
        <p:spPr>
          <a:xfrm>
            <a:off x="3429000" y="1645920"/>
            <a:ext cx="2468880" cy="1828800"/>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58A6FF"/>
                </a:solidFill>
              </a:defRPr>
            </a:pPr>
            <a:r>
              <a:t>2. Optical Lens</a:t>
            </a:r>
          </a:p>
          <a:p>
            <a:pPr>
              <a:spcBef>
                <a:spcPts val="1000"/>
              </a:spcBef>
              <a:defRPr sz="1100">
                <a:solidFill>
                  <a:srgbClr val="C9D1D9"/>
                </a:solidFill>
              </a:defRPr>
            </a:pPr>
            <a:r>
              <a:t>Aberrations, Vignetting</a:t>
            </a:r>
            <a:br/>
            <a:r>
              <a:t>Point Spread Function h(x,y)</a:t>
            </a:r>
          </a:p>
        </p:txBody>
      </p:sp>
      <p:sp>
        <p:nvSpPr>
          <p:cNvPr id="6" name="Rectangle 5"/>
          <p:cNvSpPr/>
          <p:nvPr/>
        </p:nvSpPr>
        <p:spPr>
          <a:xfrm>
            <a:off x="6126480" y="1645920"/>
            <a:ext cx="2468880" cy="1828800"/>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58A6FF"/>
                </a:solidFill>
              </a:defRPr>
            </a:pPr>
            <a:r>
              <a:t>3. Photodetector</a:t>
            </a:r>
          </a:p>
          <a:p>
            <a:pPr>
              <a:spcBef>
                <a:spcPts val="1000"/>
              </a:spcBef>
              <a:defRPr sz="1100">
                <a:solidFill>
                  <a:srgbClr val="C9D1D9"/>
                </a:solidFill>
              </a:defRPr>
            </a:pPr>
            <a:r>
              <a:t>Photon-to-electron (QE)</a:t>
            </a:r>
            <a:br/>
            <a:r>
              <a:t>Shot Noise &amp; Thermal Dark Current</a:t>
            </a:r>
          </a:p>
        </p:txBody>
      </p:sp>
      <p:sp>
        <p:nvSpPr>
          <p:cNvPr id="7" name="Rectangle 6"/>
          <p:cNvSpPr/>
          <p:nvPr/>
        </p:nvSpPr>
        <p:spPr>
          <a:xfrm>
            <a:off x="8823960" y="1645920"/>
            <a:ext cx="2468880" cy="1828800"/>
          </a:xfrm>
          <a:prstGeom prst="rect">
            <a:avLst/>
          </a:prstGeom>
          <a:solidFill>
            <a:srgbClr val="161B22"/>
          </a:solidFill>
          <a:ln w="12700">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58A6FF"/>
                </a:solidFill>
              </a:defRPr>
            </a:pPr>
            <a:r>
              <a:t>4. Readout &amp; ADC</a:t>
            </a:r>
          </a:p>
          <a:p>
            <a:pPr>
              <a:spcBef>
                <a:spcPts val="1000"/>
              </a:spcBef>
              <a:defRPr sz="1100">
                <a:solidFill>
                  <a:srgbClr val="C9D1D9"/>
                </a:solidFill>
              </a:defRPr>
            </a:pPr>
            <a:r>
              <a:t>Amplifier Read Noise</a:t>
            </a:r>
            <a:br/>
            <a:r>
              <a:t>Quantization &amp; Clipping</a:t>
            </a:r>
          </a:p>
        </p:txBody>
      </p:sp>
      <p:sp>
        <p:nvSpPr>
          <p:cNvPr id="8" name="Rectangle 7"/>
          <p:cNvSpPr/>
          <p:nvPr/>
        </p:nvSpPr>
        <p:spPr>
          <a:xfrm>
            <a:off x="731520" y="3840480"/>
            <a:ext cx="10728655" cy="2194560"/>
          </a:xfrm>
          <a:prstGeom prst="rect">
            <a:avLst/>
          </a:prstGeom>
          <a:solidFill>
            <a:srgbClr val="161B22"/>
          </a:solidFill>
          <a:ln w="19050">
            <a:solidFill>
              <a:srgbClr val="58A6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F0F6FC"/>
                </a:solidFill>
              </a:defRPr>
            </a:pPr>
            <a:r>
              <a:t>Unified Acquisition Mathematical Model</a:t>
            </a:r>
          </a:p>
          <a:p>
            <a:pPr>
              <a:spcBef>
                <a:spcPts val="1000"/>
              </a:spcBef>
              <a:defRPr sz="2000" b="1">
                <a:solidFill>
                  <a:srgbClr val="58A6FF"/>
                </a:solidFill>
              </a:defRPr>
            </a:pPr>
            <a:r>
              <a:t>g(x,y) = h(x,y) * f(x,y) + η(x,y)</a:t>
            </a:r>
          </a:p>
          <a:p>
            <a:pPr>
              <a:spcBef>
                <a:spcPts val="1000"/>
              </a:spcBef>
              <a:defRPr sz="1200">
                <a:solidFill>
                  <a:srgbClr val="C9D1D9"/>
                </a:solidFill>
              </a:defRPr>
            </a:pPr>
            <a:r>
              <a:t>Where g(x,y) is the observed degraded digital image, h(x,y) is the system Point Spread Function (PSF) representing optical and sensor spatial blur, f(x,y) is the true scene radiance, and η(x,y) is the additive superposition of read noise, shot noise, and dark current.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a:spAutoFit/>
          </a:bodyPr>
          <a:lstStyle/>
          <a:p>
            <a:pPr>
              <a:defRPr sz="1000" b="1">
                <a:solidFill>
                  <a:srgbClr val="58A6FF"/>
                </a:solidFill>
              </a:defRPr>
            </a:pPr>
            <a:r>
              <a:t>IMAGE SENSING SYSTEMS</a:t>
            </a:r>
          </a:p>
        </p:txBody>
      </p:sp>
      <p:sp>
        <p:nvSpPr>
          <p:cNvPr id="3" name="TextBox 2"/>
          <p:cNvSpPr txBox="1"/>
          <p:nvPr/>
        </p:nvSpPr>
        <p:spPr>
          <a:xfrm>
            <a:off x="731520" y="731520"/>
            <a:ext cx="10698480" cy="731520"/>
          </a:xfrm>
          <a:prstGeom prst="rect">
            <a:avLst/>
          </a:prstGeom>
          <a:noFill/>
        </p:spPr>
        <p:txBody>
          <a:bodyPr wrap="square">
            <a:spAutoFit/>
          </a:bodyPr>
          <a:lstStyle/>
          <a:p>
            <a:pPr>
              <a:defRPr sz="2200" b="1">
                <a:solidFill>
                  <a:srgbClr val="F0F6FC"/>
                </a:solidFill>
              </a:defRPr>
            </a:pPr>
            <a:r>
              <a:t>2. Fundamental Physical Noise Sources in Photodetectors</a:t>
            </a:r>
          </a:p>
        </p:txBody>
      </p:sp>
      <p:sp>
        <p:nvSpPr>
          <p:cNvPr id="4" name="Rectangle 3"/>
          <p:cNvSpPr/>
          <p:nvPr/>
        </p:nvSpPr>
        <p:spPr>
          <a:xfrm>
            <a:off x="731520" y="1645920"/>
            <a:ext cx="3383280" cy="4389120"/>
          </a:xfrm>
          <a:prstGeom prst="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58A6FF"/>
                </a:solidFill>
              </a:defRPr>
            </a:pPr>
            <a:r>
              <a:t>Photon Shot Noise (Quantum Limit)</a:t>
            </a:r>
          </a:p>
          <a:p>
            <a:pPr>
              <a:spcBef>
                <a:spcPts val="1200"/>
              </a:spcBef>
              <a:defRPr sz="1100">
                <a:solidFill>
                  <a:srgbClr val="C9D1D9"/>
                </a:solidFill>
              </a:defRPr>
            </a:pPr>
            <a:r>
              <a:t>• Physics: Discrete arrival of photons governed by Poisson statistics.</a:t>
            </a:r>
            <a:br/>
            <a:r>
              <a:t>• Formula: P(k) = (λt)^k * e^(-λt) / k!</a:t>
            </a:r>
            <a:br/>
            <a:r>
              <a:t>• Characteristic: Variance equals the mean signal (σ² = μ). Signal-to-Noise Ratio scales as √μ.</a:t>
            </a:r>
            <a:br/>
            <a:r>
              <a:t>• Impact: Dominates at high light levels; fundamental physical limit that cannot be eliminated.</a:t>
            </a:r>
          </a:p>
        </p:txBody>
      </p:sp>
      <p:sp>
        <p:nvSpPr>
          <p:cNvPr id="5" name="Rectangle 4"/>
          <p:cNvSpPr/>
          <p:nvPr/>
        </p:nvSpPr>
        <p:spPr>
          <a:xfrm>
            <a:off x="4343400" y="1645920"/>
            <a:ext cx="3383280" cy="4389120"/>
          </a:xfrm>
          <a:prstGeom prst="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58A6FF"/>
                </a:solidFill>
              </a:defRPr>
            </a:pPr>
            <a:r>
              <a:t>Dark Current &amp; Thermal Generation</a:t>
            </a:r>
          </a:p>
          <a:p>
            <a:pPr>
              <a:spcBef>
                <a:spcPts val="1200"/>
              </a:spcBef>
              <a:defRPr sz="1100">
                <a:solidFill>
                  <a:srgbClr val="C9D1D9"/>
                </a:solidFill>
              </a:defRPr>
            </a:pPr>
            <a:r>
              <a:t>• Physics: Thermally generated electron-hole pairs without photon illumination.</a:t>
            </a:r>
            <a:br/>
            <a:r>
              <a:t>• Shockley-Read-Hall Model: Idark ∝ T^(1.5) * exp(-Eg / 2kB*T)</a:t>
            </a:r>
            <a:br/>
            <a:r>
              <a:t>• Impact: Exponentially increases with sensor temperature T; causes fixed pattern noise and dark shot noise floor in long exposures.</a:t>
            </a:r>
          </a:p>
        </p:txBody>
      </p:sp>
      <p:sp>
        <p:nvSpPr>
          <p:cNvPr id="6" name="Rectangle 5"/>
          <p:cNvSpPr/>
          <p:nvPr/>
        </p:nvSpPr>
        <p:spPr>
          <a:xfrm>
            <a:off x="7955280" y="1645920"/>
            <a:ext cx="3383280" cy="4389120"/>
          </a:xfrm>
          <a:prstGeom prst="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58A6FF"/>
                </a:solidFill>
              </a:defRPr>
            </a:pPr>
            <a:r>
              <a:t>Read Noise &amp; ADC Quantization</a:t>
            </a:r>
          </a:p>
          <a:p>
            <a:pPr>
              <a:spcBef>
                <a:spcPts val="1200"/>
              </a:spcBef>
              <a:defRPr sz="1100">
                <a:solidFill>
                  <a:srgbClr val="C9D1D9"/>
                </a:solidFill>
              </a:defRPr>
            </a:pPr>
            <a:r>
              <a:t>• Physics: Thermal and flicker noise in output transistor amplifiers plus A/D conversion error.</a:t>
            </a:r>
            <a:br/>
            <a:r>
              <a:t>• Superposition: Ntotal = √(σshot² + σdark² + σread² + σADC²)</a:t>
            </a:r>
            <a:br/>
            <a:r>
              <a:t>• Impact: Establishes absolute low-light sensitivity limit.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a:spAutoFit/>
          </a:bodyPr>
          <a:lstStyle/>
          <a:p>
            <a:pPr>
              <a:defRPr sz="1000" b="1">
                <a:solidFill>
                  <a:srgbClr val="58A6FF"/>
                </a:solidFill>
              </a:defRPr>
            </a:pPr>
            <a:r>
              <a:t>IMAGE SENSING SYSTEMS</a:t>
            </a:r>
          </a:p>
        </p:txBody>
      </p:sp>
      <p:sp>
        <p:nvSpPr>
          <p:cNvPr id="3" name="TextBox 2"/>
          <p:cNvSpPr txBox="1"/>
          <p:nvPr/>
        </p:nvSpPr>
        <p:spPr>
          <a:xfrm>
            <a:off x="731520" y="731520"/>
            <a:ext cx="10698480" cy="731520"/>
          </a:xfrm>
          <a:prstGeom prst="rect">
            <a:avLst/>
          </a:prstGeom>
          <a:noFill/>
        </p:spPr>
        <p:txBody>
          <a:bodyPr wrap="square">
            <a:spAutoFit/>
          </a:bodyPr>
          <a:lstStyle/>
          <a:p>
            <a:pPr>
              <a:defRPr sz="2200" b="1">
                <a:solidFill>
                  <a:srgbClr val="F0F6FC"/>
                </a:solidFill>
              </a:defRPr>
            </a:pPr>
            <a:r>
              <a:t>3. Spatial &amp; Temporal Acquisition Distortions</a:t>
            </a:r>
          </a:p>
        </p:txBody>
      </p:sp>
      <p:graphicFrame>
        <p:nvGraphicFramePr>
          <p:cNvPr id="4" name="Table 3"/>
          <p:cNvGraphicFramePr>
            <a:graphicFrameLocks noGrp="1"/>
          </p:cNvGraphicFramePr>
          <p:nvPr/>
        </p:nvGraphicFramePr>
        <p:xfrm>
          <a:off x="731520" y="1645920"/>
          <a:ext cx="10728655" cy="4389120"/>
        </p:xfrm>
        <a:graphic>
          <a:graphicData uri="http://schemas.openxmlformats.org/drawingml/2006/table">
            <a:tbl>
              <a:tblPr firstRow="1" bandRow="1">
                <a:tableStyleId>{5C22544A-7EE6-4342-B048-85BDC9FD1C3A}</a:tableStyleId>
              </a:tblPr>
              <a:tblGrid>
                <a:gridCol w="2286000"/>
                <a:gridCol w="3840480"/>
                <a:gridCol w="4602175"/>
              </a:tblGrid>
              <a:tr h="877824">
                <a:tc>
                  <a:txBody>
                    <a:bodyPr/>
                    <a:lstStyle/>
                    <a:p>
                      <a:pPr>
                        <a:defRPr b="1" sz="1200">
                          <a:solidFill>
                            <a:srgbClr val="58A6FF"/>
                          </a:solidFill>
                        </a:defRPr>
                      </a:pPr>
                      <a:r>
                        <a:t>Distortion Type</a:t>
                      </a:r>
                    </a:p>
                  </a:txBody>
                  <a:tcPr>
                    <a:solidFill>
                      <a:srgbClr val="161B22"/>
                    </a:solidFill>
                  </a:tcPr>
                </a:tc>
                <a:tc>
                  <a:txBody>
                    <a:bodyPr/>
                    <a:lstStyle/>
                    <a:p>
                      <a:pPr>
                        <a:defRPr b="1" sz="1200">
                          <a:solidFill>
                            <a:srgbClr val="58A6FF"/>
                          </a:solidFill>
                        </a:defRPr>
                      </a:pPr>
                      <a:r>
                        <a:t>Mathematical / Analytical Model</a:t>
                      </a:r>
                    </a:p>
                  </a:txBody>
                  <a:tcPr>
                    <a:solidFill>
                      <a:srgbClr val="161B22"/>
                    </a:solidFill>
                  </a:tcPr>
                </a:tc>
                <a:tc>
                  <a:txBody>
                    <a:bodyPr/>
                    <a:lstStyle/>
                    <a:p>
                      <a:pPr>
                        <a:defRPr b="1" sz="1200">
                          <a:solidFill>
                            <a:srgbClr val="58A6FF"/>
                          </a:solidFill>
                        </a:defRPr>
                      </a:pPr>
                      <a:r>
                        <a:t>Physical Impact &amp; Artifacts</a:t>
                      </a:r>
                    </a:p>
                  </a:txBody>
                  <a:tcPr>
                    <a:solidFill>
                      <a:srgbClr val="161B22"/>
                    </a:solidFill>
                  </a:tcPr>
                </a:tc>
              </a:tr>
              <a:tr h="877824">
                <a:tc>
                  <a:txBody>
                    <a:bodyPr/>
                    <a:lstStyle/>
                    <a:p>
                      <a:pPr>
                        <a:defRPr sz="1100">
                          <a:solidFill>
                            <a:srgbClr val="C9D1D9"/>
                          </a:solidFill>
                        </a:defRPr>
                      </a:pPr>
                      <a:r>
                        <a:t>Optical Blur (PSF)</a:t>
                      </a:r>
                    </a:p>
                  </a:txBody>
                  <a:tcPr>
                    <a:solidFill>
                      <a:srgbClr val="161B22"/>
                    </a:solidFill>
                  </a:tcPr>
                </a:tc>
                <a:tc>
                  <a:txBody>
                    <a:bodyPr/>
                    <a:lstStyle/>
                    <a:p>
                      <a:pPr>
                        <a:defRPr sz="1100">
                          <a:solidFill>
                            <a:srgbClr val="C9D1D9"/>
                          </a:solidFill>
                        </a:defRPr>
                      </a:pPr>
                      <a:r>
                        <a:t>MTF(f) = |F{h(x,y)}|</a:t>
                      </a:r>
                    </a:p>
                  </a:txBody>
                  <a:tcPr>
                    <a:solidFill>
                      <a:srgbClr val="161B22"/>
                    </a:solidFill>
                  </a:tcPr>
                </a:tc>
                <a:tc>
                  <a:txBody>
                    <a:bodyPr/>
                    <a:lstStyle/>
                    <a:p>
                      <a:pPr>
                        <a:defRPr sz="1100">
                          <a:solidFill>
                            <a:srgbClr val="C9D1D9"/>
                          </a:solidFill>
                        </a:defRPr>
                      </a:pPr>
                      <a:r>
                        <a:t>Attenuates high spatial frequencies; limits overall sensor contrast and sharpness.</a:t>
                      </a:r>
                    </a:p>
                  </a:txBody>
                  <a:tcPr>
                    <a:solidFill>
                      <a:srgbClr val="161B22"/>
                    </a:solidFill>
                  </a:tcPr>
                </a:tc>
              </a:tr>
              <a:tr h="877824">
                <a:tc>
                  <a:txBody>
                    <a:bodyPr/>
                    <a:lstStyle/>
                    <a:p>
                      <a:pPr>
                        <a:defRPr sz="1100">
                          <a:solidFill>
                            <a:srgbClr val="C9D1D9"/>
                          </a:solidFill>
                        </a:defRPr>
                      </a:pPr>
                      <a:r>
                        <a:t>Vignetting</a:t>
                      </a:r>
                    </a:p>
                  </a:txBody>
                  <a:tcPr>
                    <a:solidFill>
                      <a:srgbClr val="0D1117"/>
                    </a:solidFill>
                  </a:tcPr>
                </a:tc>
                <a:tc>
                  <a:txBody>
                    <a:bodyPr/>
                    <a:lstStyle/>
                    <a:p>
                      <a:pPr>
                        <a:defRPr sz="1100">
                          <a:solidFill>
                            <a:srgbClr val="C9D1D9"/>
                          </a:solidFill>
                        </a:defRPr>
                      </a:pPr>
                      <a:r>
                        <a:t>I(θ) = I₀ · cos⁴(θ)</a:t>
                      </a:r>
                    </a:p>
                  </a:txBody>
                  <a:tcPr>
                    <a:solidFill>
                      <a:srgbClr val="0D1117"/>
                    </a:solidFill>
                  </a:tcPr>
                </a:tc>
                <a:tc>
                  <a:txBody>
                    <a:bodyPr/>
                    <a:lstStyle/>
                    <a:p>
                      <a:pPr>
                        <a:defRPr sz="1100">
                          <a:solidFill>
                            <a:srgbClr val="C9D1D9"/>
                          </a:solidFill>
                        </a:defRPr>
                      </a:pPr>
                      <a:r>
                        <a:t>Radial light intensity attenuation towards image periphery due to lens geometry.</a:t>
                      </a:r>
                    </a:p>
                  </a:txBody>
                  <a:tcPr>
                    <a:solidFill>
                      <a:srgbClr val="0D1117"/>
                    </a:solidFill>
                  </a:tcPr>
                </a:tc>
              </a:tr>
              <a:tr h="877824">
                <a:tc>
                  <a:txBody>
                    <a:bodyPr/>
                    <a:lstStyle/>
                    <a:p>
                      <a:pPr>
                        <a:defRPr sz="1100">
                          <a:solidFill>
                            <a:srgbClr val="C9D1D9"/>
                          </a:solidFill>
                        </a:defRPr>
                      </a:pPr>
                      <a:r>
                        <a:t>Motion Blur</a:t>
                      </a:r>
                    </a:p>
                  </a:txBody>
                  <a:tcPr>
                    <a:solidFill>
                      <a:srgbClr val="161B22"/>
                    </a:solidFill>
                  </a:tcPr>
                </a:tc>
                <a:tc>
                  <a:txBody>
                    <a:bodyPr/>
                    <a:lstStyle/>
                    <a:p>
                      <a:pPr>
                        <a:defRPr sz="1100">
                          <a:solidFill>
                            <a:srgbClr val="C9D1D9"/>
                          </a:solidFill>
                        </a:defRPr>
                      </a:pPr>
                      <a:r>
                        <a:t>g(x,y) = ∫₀ᵀ f(x - vx·t, y - vy·t) dt</a:t>
                      </a:r>
                    </a:p>
                  </a:txBody>
                  <a:tcPr>
                    <a:solidFill>
                      <a:srgbClr val="161B22"/>
                    </a:solidFill>
                  </a:tcPr>
                </a:tc>
                <a:tc>
                  <a:txBody>
                    <a:bodyPr/>
                    <a:lstStyle/>
                    <a:p>
                      <a:pPr>
                        <a:defRPr sz="1100">
                          <a:solidFill>
                            <a:srgbClr val="C9D1D9"/>
                          </a:solidFill>
                        </a:defRPr>
                      </a:pPr>
                      <a:r>
                        <a:t>Spatial integration over finite exposure time T creates linear motion smearing.</a:t>
                      </a:r>
                    </a:p>
                  </a:txBody>
                  <a:tcPr>
                    <a:solidFill>
                      <a:srgbClr val="161B22"/>
                    </a:solidFill>
                  </a:tcPr>
                </a:tc>
              </a:tr>
              <a:tr h="877824">
                <a:tc>
                  <a:txBody>
                    <a:bodyPr/>
                    <a:lstStyle/>
                    <a:p>
                      <a:pPr>
                        <a:defRPr sz="1100">
                          <a:solidFill>
                            <a:srgbClr val="C9D1D9"/>
                          </a:solidFill>
                        </a:defRPr>
                      </a:pPr>
                      <a:r>
                        <a:t>Rolling Shutter Skew</a:t>
                      </a:r>
                    </a:p>
                  </a:txBody>
                  <a:tcPr>
                    <a:solidFill>
                      <a:srgbClr val="0D1117"/>
                    </a:solidFill>
                  </a:tcPr>
                </a:tc>
                <a:tc>
                  <a:txBody>
                    <a:bodyPr/>
                    <a:lstStyle/>
                    <a:p>
                      <a:pPr>
                        <a:defRPr sz="1100">
                          <a:solidFill>
                            <a:srgbClr val="C9D1D9"/>
                          </a:solidFill>
                        </a:defRPr>
                      </a:pPr>
                      <a:r>
                        <a:t>Δy(t) = vy · trow · y</a:t>
                      </a:r>
                    </a:p>
                  </a:txBody>
                  <a:tcPr>
                    <a:solidFill>
                      <a:srgbClr val="0D1117"/>
                    </a:solidFill>
                  </a:tcPr>
                </a:tc>
                <a:tc>
                  <a:txBody>
                    <a:bodyPr/>
                    <a:lstStyle/>
                    <a:p>
                      <a:pPr>
                        <a:defRPr sz="1100">
                          <a:solidFill>
                            <a:srgbClr val="C9D1D9"/>
                          </a:solidFill>
                        </a:defRPr>
                      </a:pPr>
                      <a:r>
                        <a:t>Sequential row readout causes geometric warping/skew in high-speed moving targets.</a:t>
                      </a:r>
                    </a:p>
                  </a:txBody>
                  <a:tcPr>
                    <a:solidFill>
                      <a:srgbClr val="0D1117"/>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a:spAutoFit/>
          </a:bodyPr>
          <a:lstStyle/>
          <a:p>
            <a:pPr>
              <a:defRPr sz="1000" b="1">
                <a:solidFill>
                  <a:srgbClr val="58A6FF"/>
                </a:solidFill>
              </a:defRPr>
            </a:pPr>
            <a:r>
              <a:t>IMAGE SENSING SYSTEMS</a:t>
            </a:r>
          </a:p>
        </p:txBody>
      </p:sp>
      <p:sp>
        <p:nvSpPr>
          <p:cNvPr id="3" name="TextBox 2"/>
          <p:cNvSpPr txBox="1"/>
          <p:nvPr/>
        </p:nvSpPr>
        <p:spPr>
          <a:xfrm>
            <a:off x="731520" y="731520"/>
            <a:ext cx="10698480" cy="731520"/>
          </a:xfrm>
          <a:prstGeom prst="rect">
            <a:avLst/>
          </a:prstGeom>
          <a:noFill/>
        </p:spPr>
        <p:txBody>
          <a:bodyPr wrap="square">
            <a:spAutoFit/>
          </a:bodyPr>
          <a:lstStyle/>
          <a:p>
            <a:pPr>
              <a:defRPr sz="2200" b="1">
                <a:solidFill>
                  <a:srgbClr val="F0F6FC"/>
                </a:solidFill>
              </a:defRPr>
            </a:pPr>
            <a:r>
              <a:t>4. Analytical Diagnostic Tools for Sensor Assessment</a:t>
            </a:r>
          </a:p>
        </p:txBody>
      </p:sp>
      <p:sp>
        <p:nvSpPr>
          <p:cNvPr id="4" name="Rectangle 3"/>
          <p:cNvSpPr/>
          <p:nvPr/>
        </p:nvSpPr>
        <p:spPr>
          <a:xfrm>
            <a:off x="731520" y="1645920"/>
            <a:ext cx="10728655" cy="1280160"/>
          </a:xfrm>
          <a:prstGeom prst="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58A6FF"/>
                </a:solidFill>
              </a:defRPr>
            </a:pPr>
            <a:r>
              <a:t>Photon Transfer Curve (PTC)</a:t>
            </a:r>
          </a:p>
          <a:p>
            <a:pPr>
              <a:spcBef>
                <a:spcPts val="600"/>
              </a:spcBef>
              <a:defRPr sz="1100">
                <a:solidFill>
                  <a:srgbClr val="C9D1D9"/>
                </a:solidFill>
              </a:defRPr>
            </a:pPr>
            <a:r>
              <a:t>Plots signal variance (σ²) vs. mean output signal (μ).</a:t>
            </a:r>
            <a:br/>
            <a:r>
              <a:t>• Extracts conversion gain (e⁻/DN)</a:t>
            </a:r>
            <a:br/>
            <a:r>
              <a:t>• Measures read noise floor</a:t>
            </a:r>
            <a:br/>
            <a:r>
              <a:t>• Determines Full Well Saturation (FWC)</a:t>
            </a:r>
          </a:p>
        </p:txBody>
      </p:sp>
      <p:sp>
        <p:nvSpPr>
          <p:cNvPr id="5" name="Rectangle 4"/>
          <p:cNvSpPr/>
          <p:nvPr/>
        </p:nvSpPr>
        <p:spPr>
          <a:xfrm>
            <a:off x="731520" y="3200400"/>
            <a:ext cx="10728655" cy="1280160"/>
          </a:xfrm>
          <a:prstGeom prst="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58A6FF"/>
                </a:solidFill>
              </a:defRPr>
            </a:pPr>
            <a:r>
              <a:t>Slanted-Edge MTF Analysis</a:t>
            </a:r>
          </a:p>
          <a:p>
            <a:pPr>
              <a:spcBef>
                <a:spcPts val="600"/>
              </a:spcBef>
              <a:defRPr sz="1100">
                <a:solidFill>
                  <a:srgbClr val="C9D1D9"/>
                </a:solidFill>
              </a:defRPr>
            </a:pPr>
            <a:r>
              <a:t>Differentiates Edge Spatial Response (ESR) → Line Spread Function (LSF) → Fourier Transform.</a:t>
            </a:r>
            <a:br/>
            <a:r>
              <a:t>• Quantifies system Modulation Transfer Function (MTF) spatial resolution limit.</a:t>
            </a:r>
          </a:p>
        </p:txBody>
      </p:sp>
      <p:sp>
        <p:nvSpPr>
          <p:cNvPr id="6" name="Rectangle 5"/>
          <p:cNvSpPr/>
          <p:nvPr/>
        </p:nvSpPr>
        <p:spPr>
          <a:xfrm>
            <a:off x="731520" y="4754880"/>
            <a:ext cx="10728655" cy="1280160"/>
          </a:xfrm>
          <a:prstGeom prst="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400" b="1">
                <a:solidFill>
                  <a:srgbClr val="58A6FF"/>
                </a:solidFill>
              </a:defRPr>
            </a:pPr>
            <a:r>
              <a:t>Flat-Field &amp; Dark Profiling</a:t>
            </a:r>
          </a:p>
          <a:p>
            <a:pPr>
              <a:spcBef>
                <a:spcPts val="600"/>
              </a:spcBef>
              <a:defRPr sz="1100">
                <a:solidFill>
                  <a:srgbClr val="C9D1D9"/>
                </a:solidFill>
              </a:defRPr>
            </a:pPr>
            <a:r>
              <a:t>Captures uniform light frames (Iflat) and zero-flux dark frames (Idark).</a:t>
            </a:r>
            <a:br/>
            <a:r>
              <a:t>• Quantifies Fixed-Pattern Noise (FPN)</a:t>
            </a:r>
            <a:br/>
            <a:r>
              <a:t>• Measures Dark Current Non-Uniformity (DCNU)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a:spAutoFit/>
          </a:bodyPr>
          <a:lstStyle/>
          <a:p>
            <a:pPr>
              <a:defRPr sz="1000" b="1">
                <a:solidFill>
                  <a:srgbClr val="58A6FF"/>
                </a:solidFill>
              </a:defRPr>
            </a:pPr>
            <a:r>
              <a:t>IMAGE SENSING SYSTEMS</a:t>
            </a:r>
          </a:p>
        </p:txBody>
      </p:sp>
      <p:sp>
        <p:nvSpPr>
          <p:cNvPr id="3" name="TextBox 2"/>
          <p:cNvSpPr txBox="1"/>
          <p:nvPr/>
        </p:nvSpPr>
        <p:spPr>
          <a:xfrm>
            <a:off x="731520" y="731520"/>
            <a:ext cx="10698480" cy="731520"/>
          </a:xfrm>
          <a:prstGeom prst="rect">
            <a:avLst/>
          </a:prstGeom>
          <a:noFill/>
        </p:spPr>
        <p:txBody>
          <a:bodyPr wrap="square">
            <a:spAutoFit/>
          </a:bodyPr>
          <a:lstStyle/>
          <a:p>
            <a:pPr>
              <a:defRPr sz="2200" b="1">
                <a:solidFill>
                  <a:srgbClr val="F0F6FC"/>
                </a:solidFill>
              </a:defRPr>
            </a:pPr>
            <a:r>
              <a:t>5. System Mitigation &amp; Restoration Frameworks</a:t>
            </a:r>
          </a:p>
        </p:txBody>
      </p:sp>
      <p:sp>
        <p:nvSpPr>
          <p:cNvPr id="4" name="Rectangle 3"/>
          <p:cNvSpPr/>
          <p:nvPr/>
        </p:nvSpPr>
        <p:spPr>
          <a:xfrm>
            <a:off x="731520" y="1645920"/>
            <a:ext cx="5212080" cy="4389120"/>
          </a:xfrm>
          <a:prstGeom prst="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58A6FF"/>
                </a:solidFill>
              </a:defRPr>
            </a:pPr>
            <a:r>
              <a:t>Hardware-Level Mitigations</a:t>
            </a:r>
          </a:p>
          <a:p>
            <a:pPr>
              <a:spcBef>
                <a:spcPts val="1400"/>
              </a:spcBef>
              <a:defRPr sz="1200">
                <a:solidFill>
                  <a:srgbClr val="C9D1D9"/>
                </a:solidFill>
              </a:defRPr>
            </a:pPr>
            <a:r>
              <a:t>• Thermo-Electric Cooling (TEC / Peltier):</a:t>
            </a:r>
            <a:br/>
            <a:r>
              <a:t>  Lowers operational temperature T to exponentially reduce dark current generation.</a:t>
            </a:r>
            <a:br/>
            <a:br/>
            <a:r>
              <a:t>• Global Shutter Architecture:</a:t>
            </a:r>
            <a:br/>
            <a:r>
              <a:t>  Integrates storage capacitors at each pixel node to capture entire frame simultaneously, eliminating rolling shutter spatial skew.</a:t>
            </a:r>
            <a:br/>
            <a:br/>
            <a:r>
              <a:t>• Back-Side Illumination (BSI):</a:t>
            </a:r>
            <a:br/>
            <a:r>
              <a:t>  Moves wiring layers behind photodiode layer, boosting Fill Factor &amp; Quantum Efficiency (&gt;90%).</a:t>
            </a:r>
          </a:p>
        </p:txBody>
      </p:sp>
      <p:sp>
        <p:nvSpPr>
          <p:cNvPr id="5" name="Rectangle 4"/>
          <p:cNvSpPr/>
          <p:nvPr/>
        </p:nvSpPr>
        <p:spPr>
          <a:xfrm>
            <a:off x="6248095" y="1645920"/>
            <a:ext cx="5212080" cy="4389120"/>
          </a:xfrm>
          <a:prstGeom prst="rect">
            <a:avLst/>
          </a:prstGeom>
          <a:solidFill>
            <a:srgbClr val="161B22"/>
          </a:solidFill>
          <a:ln>
            <a:solidFill>
              <a:srgbClr val="30363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600" b="1">
                <a:solidFill>
                  <a:srgbClr val="58A6FF"/>
                </a:solidFill>
              </a:defRPr>
            </a:pPr>
            <a:r>
              <a:t>Software &amp; Algorithmic Restoration</a:t>
            </a:r>
          </a:p>
          <a:p>
            <a:pPr>
              <a:spcBef>
                <a:spcPts val="1400"/>
              </a:spcBef>
              <a:defRPr sz="1200">
                <a:solidFill>
                  <a:srgbClr val="C9D1D9"/>
                </a:solidFill>
              </a:defRPr>
            </a:pPr>
            <a:r>
              <a:t>• Flat-Field Correction (FFC):</a:t>
            </a:r>
            <a:br/>
            <a:r>
              <a:t>  Corrects spatial non-uniformities &amp; vignetting:</a:t>
            </a:r>
            <a:br/>
            <a:r>
              <a:t>  Icorrected = [(Iraw - Idark) / (Iflat - Idark)] × μflat</a:t>
            </a:r>
            <a:br/>
            <a:br/>
            <a:r>
              <a:t>• Wiener Deconvolution Filter:</a:t>
            </a:r>
            <a:br/>
            <a:r>
              <a:t>  Optimal MSE restoration under noise:</a:t>
            </a:r>
            <a:br/>
            <a:r>
              <a:t>  F_hat(u,v) = [ H*(u,v) / (|H(u,v)|² + Sη/Sf) ] · G(u,v)</a:t>
            </a:r>
            <a:br/>
            <a:br/>
            <a:r>
              <a:t>• Correlated Double Sampling (CDS):</a:t>
            </a:r>
            <a:br/>
            <a:r>
              <a:t>  Subtracts pixel reset voltage from data voltage to cancel kTC reset noise.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D1117"/>
        </a:solidFill>
        <a:effectLst/>
      </p:bgPr>
    </p:bg>
    <p:spTree>
      <p:nvGrpSpPr>
        <p:cNvPr id="1" name=""/>
        <p:cNvGrpSpPr/>
        <p:nvPr/>
      </p:nvGrpSpPr>
      <p:grpSpPr/>
      <p:sp>
        <p:nvSpPr>
          <p:cNvPr id="2" name="TextBox 1"/>
          <p:cNvSpPr txBox="1"/>
          <p:nvPr/>
        </p:nvSpPr>
        <p:spPr>
          <a:xfrm>
            <a:off x="731520" y="457200"/>
            <a:ext cx="10698480" cy="365760"/>
          </a:xfrm>
          <a:prstGeom prst="rect">
            <a:avLst/>
          </a:prstGeom>
          <a:noFill/>
        </p:spPr>
        <p:txBody>
          <a:bodyPr wrap="square">
            <a:spAutoFit/>
          </a:bodyPr>
          <a:lstStyle/>
          <a:p>
            <a:pPr>
              <a:defRPr sz="1000" b="1">
                <a:solidFill>
                  <a:srgbClr val="58A6FF"/>
                </a:solidFill>
              </a:defRPr>
            </a:pPr>
            <a:r>
              <a:t>IMAGE SENSING SYSTEMS</a:t>
            </a:r>
          </a:p>
        </p:txBody>
      </p:sp>
      <p:sp>
        <p:nvSpPr>
          <p:cNvPr id="3" name="TextBox 2"/>
          <p:cNvSpPr txBox="1"/>
          <p:nvPr/>
        </p:nvSpPr>
        <p:spPr>
          <a:xfrm>
            <a:off x="731520" y="731520"/>
            <a:ext cx="10698480" cy="731520"/>
          </a:xfrm>
          <a:prstGeom prst="rect">
            <a:avLst/>
          </a:prstGeom>
          <a:noFill/>
        </p:spPr>
        <p:txBody>
          <a:bodyPr wrap="square">
            <a:spAutoFit/>
          </a:bodyPr>
          <a:lstStyle/>
          <a:p>
            <a:pPr>
              <a:defRPr sz="2200" b="1">
                <a:solidFill>
                  <a:srgbClr val="F0F6FC"/>
                </a:solidFill>
              </a:defRPr>
            </a:pPr>
            <a:r>
              <a:t>6. Key Takeaways &amp; Engineering Trade-Offs</a:t>
            </a:r>
          </a:p>
        </p:txBody>
      </p:sp>
      <p:sp>
        <p:nvSpPr>
          <p:cNvPr id="4" name="Rectangle 3"/>
          <p:cNvSpPr/>
          <p:nvPr/>
        </p:nvSpPr>
        <p:spPr>
          <a:xfrm>
            <a:off x="731520" y="1645920"/>
            <a:ext cx="10728655" cy="4389120"/>
          </a:xfrm>
          <a:prstGeom prst="rect">
            <a:avLst/>
          </a:prstGeom>
          <a:solidFill>
            <a:srgbClr val="161B22"/>
          </a:solidFill>
          <a:ln w="19050">
            <a:solidFill>
              <a:srgbClr val="58A6FF"/>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Bef>
                <a:spcPts val="1000"/>
              </a:spcBef>
              <a:defRPr sz="1400" b="1">
                <a:solidFill>
                  <a:srgbClr val="58A6FF"/>
                </a:solidFill>
              </a:defRPr>
            </a:pPr>
            <a:r>
              <a:t>1. Acquisition Bottlenecks are Multiphysics</a:t>
            </a:r>
          </a:p>
          <a:p>
            <a:pPr>
              <a:spcBef>
                <a:spcPts val="300"/>
              </a:spcBef>
              <a:defRPr sz="1200">
                <a:solidFill>
                  <a:srgbClr val="C9D1D9"/>
                </a:solidFill>
              </a:defRPr>
            </a:pPr>
            <a:r>
              <a:t>Degradation stems from quantum mechanics (shot noise), thermodynamics (dark current), wave optics (diffraction/MTF), and readout electronics.</a:t>
            </a:r>
          </a:p>
          <a:p>
            <a:pPr>
              <a:spcBef>
                <a:spcPts val="1000"/>
              </a:spcBef>
              <a:defRPr sz="1400" b="1">
                <a:solidFill>
                  <a:srgbClr val="58A6FF"/>
                </a:solidFill>
              </a:defRPr>
            </a:pPr>
            <a:r>
              <a:t>2. Spatial vs. Dynamic Range Trade-off</a:t>
            </a:r>
          </a:p>
          <a:p>
            <a:pPr>
              <a:spcBef>
                <a:spcPts val="300"/>
              </a:spcBef>
              <a:defRPr sz="1200">
                <a:solidFill>
                  <a:srgbClr val="C9D1D9"/>
                </a:solidFill>
              </a:defRPr>
            </a:pPr>
            <a:r>
              <a:t>Shrinking pixel size improves spatial resolution but reduces Full Well Capacity (FWC), degrading dynamic range and SNR.</a:t>
            </a:r>
          </a:p>
          <a:p>
            <a:pPr>
              <a:spcBef>
                <a:spcPts val="1000"/>
              </a:spcBef>
              <a:defRPr sz="1400" b="1">
                <a:solidFill>
                  <a:srgbClr val="58A6FF"/>
                </a:solidFill>
              </a:defRPr>
            </a:pPr>
            <a:r>
              <a:t>3. Noise Floor Superposition</a:t>
            </a:r>
          </a:p>
          <a:p>
            <a:pPr>
              <a:spcBef>
                <a:spcPts val="300"/>
              </a:spcBef>
              <a:defRPr sz="1200">
                <a:solidFill>
                  <a:srgbClr val="C9D1D9"/>
                </a:solidFill>
              </a:defRPr>
            </a:pPr>
            <a:r>
              <a:t>System performance in low-light is strictly governed by read noise and dark current floor, while bright-light performance is governed by photon shot noise.</a:t>
            </a:r>
          </a:p>
          <a:p>
            <a:pPr>
              <a:spcBef>
                <a:spcPts val="1000"/>
              </a:spcBef>
              <a:defRPr sz="1400" b="1">
                <a:solidFill>
                  <a:srgbClr val="58A6FF"/>
                </a:solidFill>
              </a:defRPr>
            </a:pPr>
            <a:r>
              <a:t>4. Co-Design is Essential</a:t>
            </a:r>
          </a:p>
          <a:p>
            <a:pPr>
              <a:spcBef>
                <a:spcPts val="300"/>
              </a:spcBef>
              <a:defRPr sz="1200">
                <a:solidFill>
                  <a:srgbClr val="C9D1D9"/>
                </a:solidFill>
              </a:defRPr>
            </a:pPr>
            <a:r>
              <a:t>Hardware mechanisms (TEC cooling, BSI sensors, Global Shutter) must be paired with algorithmic pipelines (FFC, Wiener deconvolution, CDS) for optimal imaging fidelity.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